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BLUESTOCK FINTECH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84C7"/>
                </a:solidFill>
              </a:rPr>
              <a:t>Mutual Fund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B981"/>
                </a:solidFill>
              </a:rPr>
              <a:t>Capstone Project  ·  Final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66160"/>
            <a:ext cx="4873752" cy="36576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Anushka Nair  ·  June 2026  ·  7-Day Analytics Sprint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4C7"/>
                </a:solidFill>
              </a:rPr>
              <a:t>Problem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Why Bluestock Mutual Fund Analytics?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64791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India's MF industry grew to ₹68L Crore AUM — but retail investors lack analytical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1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AUM data, NAV history, SIP flows, and investor demographics sit in siloed CSV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04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Fund advisors need risk-adjusted metrics (Sharpe, Alpha) — not just raw returns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249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No unified dashboard exists for small retail investors to compare 40+ schemes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57784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Our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764791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Ingest &amp; clean 10 datasets → SQLite star-schema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084831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Compute 12+ performance metrics (CAGR, Sharpe, Alpha, VaR…)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404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Build 4-page interactive dashboard for fund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7249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Develop fund recommendation engine by investor risk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04495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Package into reproducible, documented GitHub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Dataset: 40 schemes | 5 years NAV | 32,778 transactions | 10 CSV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4C7"/>
                </a:solidFill>
              </a:rPr>
              <a:t>Data Sources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10 datasets → SQLite Star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Raw Data Sources (10 CSVs)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nav_data.csv — 64,320 daily NAV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3911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fund_master.csv — 40 scheme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performance_data.csv — returns, Sharpe, Alpha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aum_data.csv — monthly AUM by AMC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9923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sip_industry.csv — monthly SIP inflow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566928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SQLite Star Schema (8 tables)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1907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dim_fund — 40 funds (central dimension)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3911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fact_nav — 64K+ daily NAV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5915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fact_performance — metrics per fund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7919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fact_aum, fact_transactions, fact_portfolio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9923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fact_benchmark — 6 index time series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1927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dim_date — calendar dimension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2560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69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</a:rPr>
              <a:t>64,320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365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NAV Rows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931920"/>
            <a:ext cx="2560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4069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32,778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365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Transactions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931920"/>
            <a:ext cx="2560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4069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7365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DB Tables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3931920"/>
            <a:ext cx="2560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069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B5CF6"/>
                </a:solidFill>
              </a:rPr>
              <a:t>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7365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Schemes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4C7"/>
                </a:solidFill>
              </a:rPr>
              <a:t>ETL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Automated Extract → Transform →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84C7"/>
                </a:solidFill>
              </a:rPr>
              <a:t>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10 CSV files from data/raw/
AMFI API for live NAV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56032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Handle NaN, fix dtypes
Standardise date 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256032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SQLite via SQLAlchemy
Export clean CSVs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280160"/>
            <a:ext cx="256032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5CF6"/>
                </a:solidFill>
              </a:rPr>
              <a:t>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9202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Metrics, Charts, Reports
 via scripts/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Single command: python run_pipeline.py — ETL + metrics + reports in &lt; 5 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1124712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43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Pipeline Properties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90872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Idempotent — safe to rerun; drops and recreates all 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10912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Live NAV refresh via AMFI public API (scripts/live_nav_fetch.py)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30951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Full audit trail in outputs/ — all CSVs reproducible from raw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4C7"/>
                </a:solidFill>
              </a:rPr>
              <a:t>EDA Highlights — Industry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22 publication-quality charts generated</a:t>
            </a:r>
          </a:p>
        </p:txBody>
      </p:sp>
      <p:pic>
        <p:nvPicPr>
          <p:cNvPr id="6" name="Picture 5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4C7"/>
                </a:solidFill>
              </a:rPr>
              <a:t>EDA Highlights —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10 data-driven findings from exploratory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Industry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Industry AUM grew 84% — ₹37L Cr (2022) → ₹68L Cr 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391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SIP inflow grew 181% — ₹11,035 Cr → ₹31,002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Folio count doubled: 13.2 Cr → 26.1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Mid Cap &amp; Small Cap: highest 3yr CAGR (18–23%)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9923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Direct plans outperform Regular by 1–2% per annum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57784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Investor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7190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Maharashtra + Karnataka + Delhi = 60%+ of investment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0391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Age 25–35: highest SIP participation &amp; ticket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35915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SIP vs Nifty 50 correlation: r &gt; 0.85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6791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Expense ratio range: 0.05% (ETF) to 2.5% (Regular equity)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9923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T30 cities drive 73% of total investment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4C7"/>
                </a:solidFill>
              </a:rPr>
              <a:t>Performance Analytics — Top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Composite scorecard across 6 risk-adjusted metrics</a:t>
            </a:r>
          </a:p>
        </p:txBody>
      </p:sp>
      <p:pic>
        <p:nvPicPr>
          <p:cNvPr id="6" name="Picture 5" descr="page2_fund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4C7"/>
                </a:solidFill>
              </a:rPr>
              <a:t>Risk Metrics — VaR, Sharpe, Alpha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Day 4 + Day 6 quantitative risk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560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</a:rPr>
              <a:t>85.12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Top Composite Score
(ICICI Midcap)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188720"/>
            <a:ext cx="2560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325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1.07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Best Sharpe Ratio
(Mirae Large Cap)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188720"/>
            <a:ext cx="2560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325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F4444"/>
                </a:solidFill>
              </a:rPr>
              <a:t>−28.7%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Worst Max Drawdown
(SBI Small Cap)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188720"/>
            <a:ext cx="2560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325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B5CF6"/>
                </a:solidFill>
              </a:rPr>
              <a:t>31.5%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Best Alpha %
(SBI Small Cap)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77724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8036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Metrics Computed (12 total)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27832"/>
            <a:ext cx="7543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Sharpe = (Return − Rf) / Volatility  |  Rf = 6.5%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47872"/>
            <a:ext cx="7543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Sortino uses only downside deviation (risk asymmetry)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67911"/>
            <a:ext cx="7543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Alpha via OLS regression vs assigned benchmark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87951"/>
            <a:ext cx="7543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VaR 95% = 5th percentile of daily return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07991"/>
            <a:ext cx="7543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CVaR 95% = mean loss below VaR threshold (expected shortfall)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28031"/>
            <a:ext cx="7543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Max Drawdown = peak-to-trough decline in NAV history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743200"/>
            <a:ext cx="347472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Key Findings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322783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Mid Cap funds: best risk-adjusted returns (Sharpe 0.8–1.0)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354787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Liquid funds: near-zero VaR but low absolute returns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3867911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Direct plans: alpha 0.5–2% higher than Regular counterparts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4C7"/>
                </a:solidFill>
              </a:rPr>
              <a:t>Dashboard — Investor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Page 3: Transaction flows, demographics, geography</a:t>
            </a:r>
          </a:p>
        </p:txBody>
      </p:sp>
      <p:pic>
        <p:nvPicPr>
          <p:cNvPr id="6" name="Picture 5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4C7"/>
                </a:solidFill>
              </a:rPr>
              <a:t>Dashboard — SIP &amp; Market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Page 4: SIP vs Nifty, category heatmap, FY25 flows</a:t>
            </a:r>
          </a:p>
        </p:txBody>
      </p:sp>
      <p:pic>
        <p:nvPicPr>
          <p:cNvPr id="6" name="Picture 5" descr="page4_sip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284C7"/>
                </a:solidFill>
              </a:rPr>
              <a:t>Key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Data-driven insights for investors and advisors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Top 5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ICICI Pru Midcap leads composite scorecard (85.12) — best risk-adjusted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391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SIP financialisation is systemic: 181% inflow growth over 4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Direct plans compound 18–30% more wealth over 10 years vs Regular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Small Cap VaR can exceed 4% daily — unsuitable for &lt; 5yr horizon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9923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SIP continuity gap analysis reveals 99%+ investors need retention intervention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5778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7190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Align fund selection with risk grade (Low/Moderate/High) using recommender.py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0391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Mandate Direct plans for cost-conscious retail investors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35915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Implement SIP auto-debit + reminder systems to reduce dropout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6791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Diversify across AMCs to reduce single-manager concentration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9923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  › Use VaR/CVaR as risk disclosure metric alongside standard deviation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284C7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Bluestock Mutual Fund Analytics Capstone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474720"/>
            <a:ext cx="5788152" cy="36576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7490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GitHub: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490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github.com/nush1729/bluestock_mf_capstone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2519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Tech Stack: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25195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Python · Pandas · Matplotlib · SQLite · ReportLab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7548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Days: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75487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7 days · 10 datasets · 40 funds · 12+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